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0"/>
  </p:notesMasterIdLst>
  <p:sldIdLst>
    <p:sldId id="256" r:id="rId2"/>
    <p:sldId id="257" r:id="rId3"/>
    <p:sldId id="258" r:id="rId4"/>
    <p:sldId id="259" r:id="rId5"/>
    <p:sldId id="260" r:id="rId6"/>
    <p:sldId id="261" r:id="rId7"/>
    <p:sldId id="262" r:id="rId8"/>
    <p:sldId id="265" r:id="rId9"/>
  </p:sldIdLst>
  <p:sldSz cx="9144000" cy="5143500" type="screen16x9"/>
  <p:notesSz cx="6858000" cy="9144000"/>
  <p:embeddedFontLst>
    <p:embeddedFont>
      <p:font typeface="Georgia" panose="02040502050405020303" pitchFamily="18" charset="0"/>
      <p:regular r:id="rId11"/>
      <p:bold r:id="rId12"/>
      <p:italic r:id="rId13"/>
      <p:boldItalic r:id="rId14"/>
    </p:embeddedFont>
    <p:embeddedFont>
      <p:font typeface="Roboto" panose="02000000000000000000" pitchFamily="2" charset="0"/>
      <p:regular r:id="rId15"/>
      <p:bold r:id="rId16"/>
      <p:italic r:id="rId17"/>
      <p:boldItalic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2" d="100"/>
          <a:sy n="102" d="100"/>
        </p:scale>
        <p:origin x="72" y="9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notesMaster" Target="notesMasters/notesMaster1.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c6f9e470d_0_0: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c6f9e470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c6f9e470d_0_5: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c6f9e470d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c6f9e470d_0_126: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c6f9e470d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bc94c19890_1_12: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3bc94c19890_1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bc94c19890_1_22: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3bc94c19890_1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bc94c19890_1_30: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3bc94c19890_1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c6f9e470d_0_24: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c6f9e470d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3bc94c19890_1_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3bc94c19890_1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16;p2"/>
          <p:cNvSpPr txBox="1">
            <a:spLocks noGrp="1"/>
          </p:cNvSpPr>
          <p:nvPr>
            <p:ph type="ctrTitle"/>
          </p:nvPr>
        </p:nvSpPr>
        <p:spPr>
          <a:xfrm>
            <a:off x="598100" y="1775222"/>
            <a:ext cx="8222100" cy="838800"/>
          </a:xfrm>
          <a:prstGeom prst="rect">
            <a:avLst/>
          </a:prstGeom>
        </p:spPr>
        <p:txBody>
          <a:bodyPr spcFirstLastPara="1" wrap="square" lIns="91425" tIns="91425" rIns="91425" bIns="91425" anchor="b" anchorCtr="0">
            <a:no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a:endParaRPr/>
          </a:p>
        </p:txBody>
      </p:sp>
      <p:sp>
        <p:nvSpPr>
          <p:cNvPr id="17" name="Google Shape;17;p2"/>
          <p:cNvSpPr txBox="1">
            <a:spLocks noGrp="1"/>
          </p:cNvSpPr>
          <p:nvPr>
            <p:ph type="subTitle" idx="1"/>
          </p:nvPr>
        </p:nvSpPr>
        <p:spPr>
          <a:xfrm>
            <a:off x="598088" y="2715913"/>
            <a:ext cx="8222100" cy="4329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18" name="Google Shape;18;p2"/>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 name="Google Shape;26;p3"/>
          <p:cNvSpPr txBox="1">
            <a:spLocks noGrp="1"/>
          </p:cNvSpPr>
          <p:nvPr>
            <p:ph type="title"/>
          </p:nvPr>
        </p:nvSpPr>
        <p:spPr>
          <a:xfrm>
            <a:off x="598100" y="2152347"/>
            <a:ext cx="8222100" cy="8388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a:endParaRPr/>
          </a:p>
        </p:txBody>
      </p:sp>
      <p:sp>
        <p:nvSpPr>
          <p:cNvPr id="27" name="Google Shape;27;p3"/>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4"/>
            <p:cNvSpPr/>
            <p:nvPr/>
          </p:nvSpPr>
          <p:spPr>
            <a:xfrm>
              <a:off x="7170274" y="3903669"/>
              <a:ext cx="989100" cy="9879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4"/>
            <p:cNvSpPr/>
            <p:nvPr/>
          </p:nvSpPr>
          <p:spPr>
            <a:xfrm>
              <a:off x="0" y="4891594"/>
              <a:ext cx="9144000" cy="252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 name="Google Shape;35;p4"/>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6" name="Google Shape;36;p4"/>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37" name="Google Shape;37;p4"/>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8"/>
        <p:cNvGrpSpPr/>
        <p:nvPr/>
      </p:nvGrpSpPr>
      <p:grpSpPr>
        <a:xfrm>
          <a:off x="0" y="0"/>
          <a:ext cx="0" cy="0"/>
          <a:chOff x="0" y="0"/>
          <a:chExt cx="0" cy="0"/>
        </a:xfrm>
      </p:grpSpPr>
      <p:sp>
        <p:nvSpPr>
          <p:cNvPr id="39" name="Google Shape;39;p5"/>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0" name="Google Shape;40;p5"/>
          <p:cNvSpPr txBox="1">
            <a:spLocks noGrp="1"/>
          </p:cNvSpPr>
          <p:nvPr>
            <p:ph type="body" idx="1"/>
          </p:nvPr>
        </p:nvSpPr>
        <p:spPr>
          <a:xfrm>
            <a:off x="311700" y="1229975"/>
            <a:ext cx="3999900" cy="3339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41" name="Google Shape;41;p5"/>
          <p:cNvSpPr txBox="1">
            <a:spLocks noGrp="1"/>
          </p:cNvSpPr>
          <p:nvPr>
            <p:ph type="body" idx="2"/>
          </p:nvPr>
        </p:nvSpPr>
        <p:spPr>
          <a:xfrm>
            <a:off x="4832400" y="1229975"/>
            <a:ext cx="3999900" cy="3339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42" name="Google Shape;42;p5"/>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3"/>
        <p:cNvGrpSpPr/>
        <p:nvPr/>
      </p:nvGrpSpPr>
      <p:grpSpPr>
        <a:xfrm>
          <a:off x="0" y="0"/>
          <a:ext cx="0" cy="0"/>
          <a:chOff x="0" y="0"/>
          <a:chExt cx="0" cy="0"/>
        </a:xfrm>
      </p:grpSpPr>
      <p:sp>
        <p:nvSpPr>
          <p:cNvPr id="44" name="Google Shape;44;p6"/>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5" name="Google Shape;45;p6"/>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6"/>
        <p:cNvGrpSpPr/>
        <p:nvPr/>
      </p:nvGrpSpPr>
      <p:grpSpPr>
        <a:xfrm>
          <a:off x="0" y="0"/>
          <a:ext cx="0" cy="0"/>
          <a:chOff x="0" y="0"/>
          <a:chExt cx="0" cy="0"/>
        </a:xfrm>
      </p:grpSpPr>
      <p:sp>
        <p:nvSpPr>
          <p:cNvPr id="47" name="Google Shape;47;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8" name="Google Shape;48;p7"/>
          <p:cNvSpPr txBox="1">
            <a:spLocks noGrp="1"/>
          </p:cNvSpPr>
          <p:nvPr>
            <p:ph type="body" idx="1"/>
          </p:nvPr>
        </p:nvSpPr>
        <p:spPr>
          <a:xfrm>
            <a:off x="311700" y="1465804"/>
            <a:ext cx="2808000" cy="31032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49" name="Google Shape;49;p7"/>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4"/>
        </a:solidFill>
        <a:effectLst/>
      </p:bgPr>
    </p:bg>
    <p:spTree>
      <p:nvGrpSpPr>
        <p:cNvPr id="1"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8"/>
            <p:cNvSpPr/>
            <p:nvPr/>
          </p:nvSpPr>
          <p:spPr>
            <a:xfrm rot="10800000" flipH="1">
              <a:off x="7113588" y="107"/>
              <a:ext cx="1015200" cy="10152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7" name="Google Shape;57;p8"/>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58" name="Google Shape;58;p8"/>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1" name="Google Shape;61;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62" name="Google Shape;62;p9"/>
          <p:cNvSpPr txBox="1">
            <a:spLocks noGrp="1"/>
          </p:cNvSpPr>
          <p:nvPr>
            <p:ph type="title"/>
          </p:nvPr>
        </p:nvSpPr>
        <p:spPr>
          <a:xfrm>
            <a:off x="265500" y="1151100"/>
            <a:ext cx="4045200" cy="15645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63" name="Google Shape;63;p9"/>
          <p:cNvSpPr txBox="1">
            <a:spLocks noGrp="1"/>
          </p:cNvSpPr>
          <p:nvPr>
            <p:ph type="subTitle" idx="1"/>
          </p:nvPr>
        </p:nvSpPr>
        <p:spPr>
          <a:xfrm>
            <a:off x="265500" y="2769001"/>
            <a:ext cx="4045200" cy="12693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64" name="Google Shape;64;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1600"/>
              </a:spcBef>
              <a:spcAft>
                <a:spcPts val="0"/>
              </a:spcAft>
              <a:buClr>
                <a:schemeClr val="lt1"/>
              </a:buClr>
              <a:buSzPts val="1400"/>
              <a:buChar char="○"/>
              <a:defRPr>
                <a:solidFill>
                  <a:schemeClr val="lt1"/>
                </a:solidFill>
              </a:defRPr>
            </a:lvl2pPr>
            <a:lvl3pPr marL="1371600" lvl="2" indent="-317500">
              <a:spcBef>
                <a:spcPts val="1600"/>
              </a:spcBef>
              <a:spcAft>
                <a:spcPts val="0"/>
              </a:spcAft>
              <a:buClr>
                <a:schemeClr val="lt1"/>
              </a:buClr>
              <a:buSzPts val="1400"/>
              <a:buChar char="■"/>
              <a:defRPr>
                <a:solidFill>
                  <a:schemeClr val="lt1"/>
                </a:solidFill>
              </a:defRPr>
            </a:lvl3pPr>
            <a:lvl4pPr marL="1828800" lvl="3" indent="-317500">
              <a:spcBef>
                <a:spcPts val="1600"/>
              </a:spcBef>
              <a:spcAft>
                <a:spcPts val="0"/>
              </a:spcAft>
              <a:buClr>
                <a:schemeClr val="lt1"/>
              </a:buClr>
              <a:buSzPts val="1400"/>
              <a:buChar char="●"/>
              <a:defRPr>
                <a:solidFill>
                  <a:schemeClr val="lt1"/>
                </a:solidFill>
              </a:defRPr>
            </a:lvl4pPr>
            <a:lvl5pPr marL="2286000" lvl="4" indent="-317500">
              <a:spcBef>
                <a:spcPts val="1600"/>
              </a:spcBef>
              <a:spcAft>
                <a:spcPts val="0"/>
              </a:spcAft>
              <a:buClr>
                <a:schemeClr val="lt1"/>
              </a:buClr>
              <a:buSzPts val="1400"/>
              <a:buChar char="○"/>
              <a:defRPr>
                <a:solidFill>
                  <a:schemeClr val="lt1"/>
                </a:solidFill>
              </a:defRPr>
            </a:lvl5pPr>
            <a:lvl6pPr marL="2743200" lvl="5" indent="-317500">
              <a:spcBef>
                <a:spcPts val="1600"/>
              </a:spcBef>
              <a:spcAft>
                <a:spcPts val="0"/>
              </a:spcAft>
              <a:buClr>
                <a:schemeClr val="lt1"/>
              </a:buClr>
              <a:buSzPts val="1400"/>
              <a:buChar char="■"/>
              <a:defRPr>
                <a:solidFill>
                  <a:schemeClr val="lt1"/>
                </a:solidFill>
              </a:defRPr>
            </a:lvl6pPr>
            <a:lvl7pPr marL="3200400" lvl="6" indent="-317500">
              <a:spcBef>
                <a:spcPts val="1600"/>
              </a:spcBef>
              <a:spcAft>
                <a:spcPts val="0"/>
              </a:spcAft>
              <a:buClr>
                <a:schemeClr val="lt1"/>
              </a:buClr>
              <a:buSzPts val="1400"/>
              <a:buChar char="●"/>
              <a:defRPr>
                <a:solidFill>
                  <a:schemeClr val="lt1"/>
                </a:solidFill>
              </a:defRPr>
            </a:lvl7pPr>
            <a:lvl8pPr marL="3657600" lvl="7" indent="-317500">
              <a:spcBef>
                <a:spcPts val="1600"/>
              </a:spcBef>
              <a:spcAft>
                <a:spcPts val="0"/>
              </a:spcAft>
              <a:buClr>
                <a:schemeClr val="lt1"/>
              </a:buClr>
              <a:buSzPts val="1400"/>
              <a:buChar char="○"/>
              <a:defRPr>
                <a:solidFill>
                  <a:schemeClr val="lt1"/>
                </a:solidFill>
              </a:defRPr>
            </a:lvl8pPr>
            <a:lvl9pPr marL="4114800" lvl="8" indent="-317500">
              <a:spcBef>
                <a:spcPts val="1600"/>
              </a:spcBef>
              <a:spcAft>
                <a:spcPts val="1600"/>
              </a:spcAft>
              <a:buClr>
                <a:schemeClr val="lt1"/>
              </a:buClr>
              <a:buSzPts val="1400"/>
              <a:buChar char="■"/>
              <a:defRPr>
                <a:solidFill>
                  <a:schemeClr val="lt1"/>
                </a:solidFill>
              </a:defRPr>
            </a:lvl9pPr>
          </a:lstStyle>
          <a:p>
            <a:endParaRPr/>
          </a:p>
        </p:txBody>
      </p:sp>
      <p:sp>
        <p:nvSpPr>
          <p:cNvPr id="65" name="Google Shape;65;p9"/>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6"/>
        <p:cNvGrpSpPr/>
        <p:nvPr/>
      </p:nvGrpSpPr>
      <p:grpSpPr>
        <a:xfrm>
          <a:off x="0" y="0"/>
          <a:ext cx="0" cy="0"/>
          <a:chOff x="0" y="0"/>
          <a:chExt cx="0" cy="0"/>
        </a:xfrm>
      </p:grpSpPr>
      <p:sp>
        <p:nvSpPr>
          <p:cNvPr id="67" name="Google Shape;67;p10"/>
          <p:cNvSpPr txBox="1">
            <a:spLocks noGrp="1"/>
          </p:cNvSpPr>
          <p:nvPr>
            <p:ph type="body" idx="1"/>
          </p:nvPr>
        </p:nvSpPr>
        <p:spPr>
          <a:xfrm>
            <a:off x="319500" y="4230575"/>
            <a:ext cx="5998800" cy="5988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68" name="Google Shape;68;p10"/>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11"/>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6" name="Google Shape;76;p11"/>
          <p:cNvSpPr txBox="1">
            <a:spLocks noGrp="1"/>
          </p:cNvSpPr>
          <p:nvPr>
            <p:ph type="title" hasCustomPrompt="1"/>
          </p:nvPr>
        </p:nvSpPr>
        <p:spPr>
          <a:xfrm>
            <a:off x="311700" y="1256050"/>
            <a:ext cx="8520600" cy="20307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a:spLocks noGrp="1"/>
          </p:cNvSpPr>
          <p:nvPr>
            <p:ph type="body" idx="1"/>
          </p:nvPr>
        </p:nvSpPr>
        <p:spPr>
          <a:xfrm>
            <a:off x="311700" y="3369225"/>
            <a:ext cx="8520600" cy="12819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Clr>
                <a:schemeClr val="lt1"/>
              </a:buClr>
              <a:buSzPts val="1800"/>
              <a:buChar char="●"/>
              <a:defRPr>
                <a:solidFill>
                  <a:schemeClr val="lt1"/>
                </a:solidFill>
              </a:defRPr>
            </a:lvl1pPr>
            <a:lvl2pPr marL="914400" lvl="1" indent="-317500" algn="ctr">
              <a:spcBef>
                <a:spcPts val="1600"/>
              </a:spcBef>
              <a:spcAft>
                <a:spcPts val="0"/>
              </a:spcAft>
              <a:buClr>
                <a:schemeClr val="lt1"/>
              </a:buClr>
              <a:buSzPts val="1400"/>
              <a:buChar char="○"/>
              <a:defRPr>
                <a:solidFill>
                  <a:schemeClr val="lt1"/>
                </a:solidFill>
              </a:defRPr>
            </a:lvl2pPr>
            <a:lvl3pPr marL="1371600" lvl="2" indent="-317500" algn="ctr">
              <a:spcBef>
                <a:spcPts val="1600"/>
              </a:spcBef>
              <a:spcAft>
                <a:spcPts val="0"/>
              </a:spcAft>
              <a:buClr>
                <a:schemeClr val="lt1"/>
              </a:buClr>
              <a:buSzPts val="1400"/>
              <a:buChar char="■"/>
              <a:defRPr>
                <a:solidFill>
                  <a:schemeClr val="lt1"/>
                </a:solidFill>
              </a:defRPr>
            </a:lvl3pPr>
            <a:lvl4pPr marL="1828800" lvl="3" indent="-317500" algn="ctr">
              <a:spcBef>
                <a:spcPts val="1600"/>
              </a:spcBef>
              <a:spcAft>
                <a:spcPts val="0"/>
              </a:spcAft>
              <a:buClr>
                <a:schemeClr val="lt1"/>
              </a:buClr>
              <a:buSzPts val="1400"/>
              <a:buChar char="●"/>
              <a:defRPr>
                <a:solidFill>
                  <a:schemeClr val="lt1"/>
                </a:solidFill>
              </a:defRPr>
            </a:lvl4pPr>
            <a:lvl5pPr marL="2286000" lvl="4" indent="-317500" algn="ctr">
              <a:spcBef>
                <a:spcPts val="1600"/>
              </a:spcBef>
              <a:spcAft>
                <a:spcPts val="0"/>
              </a:spcAft>
              <a:buClr>
                <a:schemeClr val="lt1"/>
              </a:buClr>
              <a:buSzPts val="1400"/>
              <a:buChar char="○"/>
              <a:defRPr>
                <a:solidFill>
                  <a:schemeClr val="lt1"/>
                </a:solidFill>
              </a:defRPr>
            </a:lvl5pPr>
            <a:lvl6pPr marL="2743200" lvl="5" indent="-317500" algn="ctr">
              <a:spcBef>
                <a:spcPts val="1600"/>
              </a:spcBef>
              <a:spcAft>
                <a:spcPts val="0"/>
              </a:spcAft>
              <a:buClr>
                <a:schemeClr val="lt1"/>
              </a:buClr>
              <a:buSzPts val="1400"/>
              <a:buChar char="■"/>
              <a:defRPr>
                <a:solidFill>
                  <a:schemeClr val="lt1"/>
                </a:solidFill>
              </a:defRPr>
            </a:lvl6pPr>
            <a:lvl7pPr marL="3200400" lvl="6" indent="-317500" algn="ctr">
              <a:spcBef>
                <a:spcPts val="1600"/>
              </a:spcBef>
              <a:spcAft>
                <a:spcPts val="0"/>
              </a:spcAft>
              <a:buClr>
                <a:schemeClr val="lt1"/>
              </a:buClr>
              <a:buSzPts val="1400"/>
              <a:buChar char="●"/>
              <a:defRPr>
                <a:solidFill>
                  <a:schemeClr val="lt1"/>
                </a:solidFill>
              </a:defRPr>
            </a:lvl7pPr>
            <a:lvl8pPr marL="3657600" lvl="7" indent="-317500" algn="ctr">
              <a:spcBef>
                <a:spcPts val="1600"/>
              </a:spcBef>
              <a:spcAft>
                <a:spcPts val="0"/>
              </a:spcAft>
              <a:buClr>
                <a:schemeClr val="lt1"/>
              </a:buClr>
              <a:buSzPts val="1400"/>
              <a:buChar char="○"/>
              <a:defRPr>
                <a:solidFill>
                  <a:schemeClr val="lt1"/>
                </a:solidFill>
              </a:defRPr>
            </a:lvl8pPr>
            <a:lvl9pPr marL="4114800" lvl="8" indent="-317500" algn="ctr">
              <a:spcBef>
                <a:spcPts val="1600"/>
              </a:spcBef>
              <a:spcAft>
                <a:spcPts val="1600"/>
              </a:spcAft>
              <a:buClr>
                <a:schemeClr val="lt1"/>
              </a:buClr>
              <a:buSzPts val="1400"/>
              <a:buChar char="■"/>
              <a:defRPr>
                <a:solidFill>
                  <a:schemeClr val="lt1"/>
                </a:solidFill>
              </a:defRPr>
            </a:lvl9pPr>
          </a:lstStyle>
          <a:p>
            <a:endParaRPr/>
          </a:p>
        </p:txBody>
      </p:sp>
      <p:sp>
        <p:nvSpPr>
          <p:cNvPr id="78" name="Google Shape;78;p11"/>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9"/>
        <p:cNvGrpSpPr/>
        <p:nvPr/>
      </p:nvGrpSpPr>
      <p:grpSpPr>
        <a:xfrm>
          <a:off x="0" y="0"/>
          <a:ext cx="0" cy="0"/>
          <a:chOff x="0" y="0"/>
          <a:chExt cx="0" cy="0"/>
        </a:xfrm>
      </p:grpSpPr>
      <p:sp>
        <p:nvSpPr>
          <p:cNvPr id="80" name="Google Shape;80;p12"/>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eometr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marL="914400" lvl="1"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2pPr>
            <a:lvl3pPr marL="1371600" lvl="2"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3pPr>
            <a:lvl4pPr marL="1828800" lvl="3"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4pPr>
            <a:lvl5pPr marL="2286000" lvl="4"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5pPr>
            <a:lvl6pPr marL="2743200" lvl="5"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6pPr>
            <a:lvl7pPr marL="3200400" lvl="6"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7pPr>
            <a:lvl8pPr marL="3657600" lvl="7"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8pPr>
            <a:lvl9pPr marL="4114800" lvl="8" indent="-317500">
              <a:lnSpc>
                <a:spcPct val="115000"/>
              </a:lnSpc>
              <a:spcBef>
                <a:spcPts val="1600"/>
              </a:spcBef>
              <a:spcAft>
                <a:spcPts val="1600"/>
              </a:spcAft>
              <a:buClr>
                <a:schemeClr val="dk2"/>
              </a:buClr>
              <a:buSzPts val="1400"/>
              <a:buFont typeface="Roboto"/>
              <a:buChar char="■"/>
              <a:defRPr>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3"/>
          <p:cNvSpPr txBox="1">
            <a:spLocks noGrp="1"/>
          </p:cNvSpPr>
          <p:nvPr>
            <p:ph type="ctrTitle"/>
          </p:nvPr>
        </p:nvSpPr>
        <p:spPr>
          <a:xfrm>
            <a:off x="598100" y="1775222"/>
            <a:ext cx="8222100" cy="838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Initech Case Study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4"/>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problem</a:t>
            </a:r>
            <a:endParaRPr/>
          </a:p>
        </p:txBody>
      </p:sp>
      <p:grpSp>
        <p:nvGrpSpPr>
          <p:cNvPr id="91" name="Google Shape;91;p14"/>
          <p:cNvGrpSpPr/>
          <p:nvPr/>
        </p:nvGrpSpPr>
        <p:grpSpPr>
          <a:xfrm>
            <a:off x="431925" y="1304875"/>
            <a:ext cx="2628925" cy="3416400"/>
            <a:chOff x="431925" y="1304875"/>
            <a:chExt cx="2628925" cy="3416400"/>
          </a:xfrm>
        </p:grpSpPr>
        <p:sp>
          <p:nvSpPr>
            <p:cNvPr id="92" name="Google Shape;92;p14"/>
            <p:cNvSpPr txBox="1"/>
            <p:nvPr/>
          </p:nvSpPr>
          <p:spPr>
            <a:xfrm>
              <a:off x="431925" y="1304875"/>
              <a:ext cx="2628900" cy="464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14"/>
            <p:cNvSpPr/>
            <p:nvPr/>
          </p:nvSpPr>
          <p:spPr>
            <a:xfrm>
              <a:off x="431950" y="1304875"/>
              <a:ext cx="2628900" cy="34164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4" name="Google Shape;94;p14"/>
          <p:cNvSpPr txBox="1">
            <a:spLocks noGrp="1"/>
          </p:cNvSpPr>
          <p:nvPr>
            <p:ph type="body" idx="4294967295"/>
          </p:nvPr>
        </p:nvSpPr>
        <p:spPr>
          <a:xfrm>
            <a:off x="506425" y="1304875"/>
            <a:ext cx="2494500" cy="46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lt1"/>
                </a:solidFill>
              </a:rPr>
              <a:t>Company</a:t>
            </a:r>
            <a:endParaRPr>
              <a:solidFill>
                <a:schemeClr val="lt1"/>
              </a:solidFill>
            </a:endParaRPr>
          </a:p>
        </p:txBody>
      </p:sp>
      <p:sp>
        <p:nvSpPr>
          <p:cNvPr id="95" name="Google Shape;95;p14"/>
          <p:cNvSpPr txBox="1">
            <a:spLocks noGrp="1"/>
          </p:cNvSpPr>
          <p:nvPr>
            <p:ph type="body" idx="4294967295"/>
          </p:nvPr>
        </p:nvSpPr>
        <p:spPr>
          <a:xfrm>
            <a:off x="508325" y="1850300"/>
            <a:ext cx="2478600" cy="2794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300"/>
              <a:t>IniTech is a labor marketplace that matches employers with hourly workers for on-demand shifts. Employers post jobs, IniTech facilitates fulfillment, bills the employer, and pays the worker. The company earns “net take” on each job (which can vary based on take rate and any bonus paid to fill urgent shifts).</a:t>
            </a:r>
            <a:endParaRPr sz="1300"/>
          </a:p>
        </p:txBody>
      </p:sp>
      <p:grpSp>
        <p:nvGrpSpPr>
          <p:cNvPr id="96" name="Google Shape;96;p14"/>
          <p:cNvGrpSpPr/>
          <p:nvPr/>
        </p:nvGrpSpPr>
        <p:grpSpPr>
          <a:xfrm>
            <a:off x="3320450" y="1304875"/>
            <a:ext cx="2632500" cy="3416400"/>
            <a:chOff x="3320450" y="1304875"/>
            <a:chExt cx="2632500" cy="3416400"/>
          </a:xfrm>
        </p:grpSpPr>
        <p:sp>
          <p:nvSpPr>
            <p:cNvPr id="97" name="Google Shape;97;p14"/>
            <p:cNvSpPr txBox="1"/>
            <p:nvPr/>
          </p:nvSpPr>
          <p:spPr>
            <a:xfrm>
              <a:off x="3324050" y="1304875"/>
              <a:ext cx="2628900" cy="464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14"/>
            <p:cNvSpPr/>
            <p:nvPr/>
          </p:nvSpPr>
          <p:spPr>
            <a:xfrm>
              <a:off x="3320450" y="1304875"/>
              <a:ext cx="2628900" cy="34164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9" name="Google Shape;99;p14"/>
          <p:cNvSpPr txBox="1">
            <a:spLocks noGrp="1"/>
          </p:cNvSpPr>
          <p:nvPr>
            <p:ph type="body" idx="4294967295"/>
          </p:nvPr>
        </p:nvSpPr>
        <p:spPr>
          <a:xfrm>
            <a:off x="3389450" y="1304875"/>
            <a:ext cx="2494500" cy="46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lt1"/>
                </a:solidFill>
              </a:rPr>
              <a:t>Context</a:t>
            </a:r>
            <a:endParaRPr>
              <a:solidFill>
                <a:schemeClr val="lt1"/>
              </a:solidFill>
            </a:endParaRPr>
          </a:p>
        </p:txBody>
      </p:sp>
      <p:sp>
        <p:nvSpPr>
          <p:cNvPr id="100" name="Google Shape;100;p14"/>
          <p:cNvSpPr txBox="1">
            <a:spLocks noGrp="1"/>
          </p:cNvSpPr>
          <p:nvPr>
            <p:ph type="body" idx="4294967295"/>
          </p:nvPr>
        </p:nvSpPr>
        <p:spPr>
          <a:xfrm>
            <a:off x="3396775" y="1766275"/>
            <a:ext cx="2478600" cy="2878800"/>
          </a:xfrm>
          <a:prstGeom prst="rect">
            <a:avLst/>
          </a:prstGeom>
        </p:spPr>
        <p:txBody>
          <a:bodyPr spcFirstLastPara="1" wrap="square" lIns="91425" tIns="91425" rIns="91425" bIns="91425" anchor="t" anchorCtr="0">
            <a:noAutofit/>
          </a:bodyPr>
          <a:lstStyle/>
          <a:p>
            <a:pPr marL="457200" lvl="0" indent="-295275" algn="l" rtl="0">
              <a:spcBef>
                <a:spcPts val="0"/>
              </a:spcBef>
              <a:spcAft>
                <a:spcPts val="0"/>
              </a:spcAft>
              <a:buSzPts val="1050"/>
              <a:buChar char="●"/>
            </a:pPr>
            <a:r>
              <a:rPr lang="en" sz="1050"/>
              <a:t>Operating since 2021, currently active across multiple U.S. markets.</a:t>
            </a:r>
            <a:endParaRPr sz="1050"/>
          </a:p>
          <a:p>
            <a:pPr marL="457200" lvl="0" indent="-295275" algn="l" rtl="0">
              <a:spcBef>
                <a:spcPts val="0"/>
              </a:spcBef>
              <a:spcAft>
                <a:spcPts val="0"/>
              </a:spcAft>
              <a:buSzPts val="1050"/>
              <a:buChar char="●"/>
            </a:pPr>
            <a:r>
              <a:rPr lang="en" sz="1050"/>
              <a:t>Growth has been driven by expanding worker supply and increasing monthly revenue, but performance varies significantly by market.</a:t>
            </a:r>
            <a:endParaRPr sz="1050"/>
          </a:p>
          <a:p>
            <a:pPr marL="457200" lvl="0" indent="-295275" algn="l" rtl="0">
              <a:spcBef>
                <a:spcPts val="0"/>
              </a:spcBef>
              <a:spcAft>
                <a:spcPts val="0"/>
              </a:spcAft>
              <a:buSzPts val="1050"/>
              <a:buChar char="●"/>
            </a:pPr>
            <a:r>
              <a:rPr lang="en" sz="1050"/>
              <a:t>Key questions for diligence are around worker retention, unit economics (LTV vs CAC), and whether the model improves or worsens as revenue scales (operating leverage vs loss-amplifying growth).</a:t>
            </a:r>
            <a:endParaRPr sz="1050"/>
          </a:p>
        </p:txBody>
      </p:sp>
      <p:grpSp>
        <p:nvGrpSpPr>
          <p:cNvPr id="101" name="Google Shape;101;p14"/>
          <p:cNvGrpSpPr/>
          <p:nvPr/>
        </p:nvGrpSpPr>
        <p:grpSpPr>
          <a:xfrm>
            <a:off x="6212550" y="1304875"/>
            <a:ext cx="2632500" cy="3416400"/>
            <a:chOff x="6212550" y="1304875"/>
            <a:chExt cx="2632500" cy="3416400"/>
          </a:xfrm>
        </p:grpSpPr>
        <p:sp>
          <p:nvSpPr>
            <p:cNvPr id="102" name="Google Shape;102;p14"/>
            <p:cNvSpPr/>
            <p:nvPr/>
          </p:nvSpPr>
          <p:spPr>
            <a:xfrm>
              <a:off x="6215400" y="1304875"/>
              <a:ext cx="2628900" cy="34164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14"/>
            <p:cNvSpPr txBox="1"/>
            <p:nvPr/>
          </p:nvSpPr>
          <p:spPr>
            <a:xfrm>
              <a:off x="6212550" y="1304875"/>
              <a:ext cx="2632500" cy="464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4" name="Google Shape;104;p14"/>
          <p:cNvSpPr txBox="1">
            <a:spLocks noGrp="1"/>
          </p:cNvSpPr>
          <p:nvPr>
            <p:ph type="body" idx="4294967295"/>
          </p:nvPr>
        </p:nvSpPr>
        <p:spPr>
          <a:xfrm>
            <a:off x="6272475" y="1304875"/>
            <a:ext cx="2494500" cy="46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lt1"/>
                </a:solidFill>
              </a:rPr>
              <a:t>Problem statement</a:t>
            </a:r>
            <a:endParaRPr>
              <a:solidFill>
                <a:schemeClr val="lt1"/>
              </a:solidFill>
            </a:endParaRPr>
          </a:p>
        </p:txBody>
      </p:sp>
      <p:sp>
        <p:nvSpPr>
          <p:cNvPr id="105" name="Google Shape;105;p14"/>
          <p:cNvSpPr txBox="1">
            <a:spLocks noGrp="1"/>
          </p:cNvSpPr>
          <p:nvPr>
            <p:ph type="body" idx="4294967295"/>
          </p:nvPr>
        </p:nvSpPr>
        <p:spPr>
          <a:xfrm>
            <a:off x="6286400" y="1850300"/>
            <a:ext cx="2478600" cy="2794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600"/>
              <a:t>IniTech is growing revenue, but it’s unclear whether growth is profitable and scalable. We need to assess worker retention, LTV vs CAC, and whether costs rise faster than revenue as the company expands.</a:t>
            </a:r>
            <a:endParaRPr sz="16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pic>
        <p:nvPicPr>
          <p:cNvPr id="110" name="Google Shape;110;p15"/>
          <p:cNvPicPr preferRelativeResize="0"/>
          <p:nvPr/>
        </p:nvPicPr>
        <p:blipFill>
          <a:blip r:embed="rId3">
            <a:alphaModFix/>
          </a:blip>
          <a:stretch>
            <a:fillRect/>
          </a:stretch>
        </p:blipFill>
        <p:spPr>
          <a:xfrm>
            <a:off x="4572000" y="0"/>
            <a:ext cx="4571999" cy="2254300"/>
          </a:xfrm>
          <a:prstGeom prst="rect">
            <a:avLst/>
          </a:prstGeom>
          <a:noFill/>
          <a:ln>
            <a:noFill/>
          </a:ln>
        </p:spPr>
      </p:pic>
      <p:pic>
        <p:nvPicPr>
          <p:cNvPr id="111" name="Google Shape;111;p15"/>
          <p:cNvPicPr preferRelativeResize="0"/>
          <p:nvPr/>
        </p:nvPicPr>
        <p:blipFill>
          <a:blip r:embed="rId4">
            <a:alphaModFix/>
          </a:blip>
          <a:stretch>
            <a:fillRect/>
          </a:stretch>
        </p:blipFill>
        <p:spPr>
          <a:xfrm>
            <a:off x="4572000" y="2372325"/>
            <a:ext cx="4572001" cy="2771175"/>
          </a:xfrm>
          <a:prstGeom prst="rect">
            <a:avLst/>
          </a:prstGeom>
          <a:noFill/>
          <a:ln>
            <a:noFill/>
          </a:ln>
        </p:spPr>
      </p:pic>
      <p:sp>
        <p:nvSpPr>
          <p:cNvPr id="112" name="Google Shape;112;p15"/>
          <p:cNvSpPr txBox="1"/>
          <p:nvPr/>
        </p:nvSpPr>
        <p:spPr>
          <a:xfrm>
            <a:off x="20750" y="572600"/>
            <a:ext cx="4425600" cy="4571100"/>
          </a:xfrm>
          <a:prstGeom prst="rect">
            <a:avLst/>
          </a:prstGeom>
          <a:noFill/>
          <a:ln>
            <a:noFill/>
          </a:ln>
        </p:spPr>
        <p:txBody>
          <a:bodyPr spcFirstLastPara="1" wrap="square" lIns="91425" tIns="91425" rIns="91425" bIns="91425" anchor="t" anchorCtr="0">
            <a:noAutofit/>
          </a:bodyPr>
          <a:lstStyle/>
          <a:p>
            <a:pPr marL="457200" lvl="0" indent="-298450" algn="l" rtl="0">
              <a:spcBef>
                <a:spcPts val="0"/>
              </a:spcBef>
              <a:spcAft>
                <a:spcPts val="0"/>
              </a:spcAft>
              <a:buClr>
                <a:schemeClr val="dk2"/>
              </a:buClr>
              <a:buSzPts val="1100"/>
              <a:buFont typeface="Roboto"/>
              <a:buChar char="●"/>
            </a:pPr>
            <a:r>
              <a:rPr lang="en" sz="1100">
                <a:solidFill>
                  <a:schemeClr val="dk2"/>
                </a:solidFill>
                <a:latin typeface="Roboto"/>
                <a:ea typeface="Roboto"/>
                <a:cs typeface="Roboto"/>
                <a:sym typeface="Roboto"/>
              </a:rPr>
              <a:t>Clear scale-up (2021 → 2025): Monthly Active Workers (MAW) grow from very low levels to roughly ~1.7–1.9k by 2025, showing the platform has expanded its active supply base.</a:t>
            </a:r>
            <a:endParaRPr sz="1100">
              <a:solidFill>
                <a:schemeClr val="dk2"/>
              </a:solidFill>
              <a:latin typeface="Roboto"/>
              <a:ea typeface="Roboto"/>
              <a:cs typeface="Roboto"/>
              <a:sym typeface="Roboto"/>
            </a:endParaRPr>
          </a:p>
          <a:p>
            <a:pPr marL="0" lvl="0" indent="0" algn="l" rtl="0">
              <a:spcBef>
                <a:spcPts val="0"/>
              </a:spcBef>
              <a:spcAft>
                <a:spcPts val="0"/>
              </a:spcAft>
              <a:buNone/>
            </a:pPr>
            <a:endParaRPr sz="1100">
              <a:solidFill>
                <a:schemeClr val="dk2"/>
              </a:solidFill>
              <a:latin typeface="Roboto"/>
              <a:ea typeface="Roboto"/>
              <a:cs typeface="Roboto"/>
              <a:sym typeface="Roboto"/>
            </a:endParaRPr>
          </a:p>
          <a:p>
            <a:pPr marL="457200" lvl="0" indent="-298450" algn="l" rtl="0">
              <a:spcBef>
                <a:spcPts val="0"/>
              </a:spcBef>
              <a:spcAft>
                <a:spcPts val="0"/>
              </a:spcAft>
              <a:buClr>
                <a:schemeClr val="dk2"/>
              </a:buClr>
              <a:buSzPts val="1100"/>
              <a:buFont typeface="Roboto"/>
              <a:buChar char="●"/>
            </a:pPr>
            <a:r>
              <a:rPr lang="en" sz="1100">
                <a:solidFill>
                  <a:schemeClr val="dk2"/>
                </a:solidFill>
                <a:latin typeface="Roboto"/>
                <a:ea typeface="Roboto"/>
                <a:cs typeface="Roboto"/>
                <a:sym typeface="Roboto"/>
              </a:rPr>
              <a:t>Revenue ramps with scale: Monthly revenue climbs materially and reaches about ~$2–3M/month in 2024–2025, suggesting the business is generating meaningful volume as it grows.</a:t>
            </a:r>
            <a:endParaRPr sz="1100">
              <a:solidFill>
                <a:schemeClr val="dk2"/>
              </a:solidFill>
              <a:latin typeface="Roboto"/>
              <a:ea typeface="Roboto"/>
              <a:cs typeface="Roboto"/>
              <a:sym typeface="Roboto"/>
            </a:endParaRPr>
          </a:p>
          <a:p>
            <a:pPr marL="0" lvl="0" indent="0" algn="l" rtl="0">
              <a:spcBef>
                <a:spcPts val="0"/>
              </a:spcBef>
              <a:spcAft>
                <a:spcPts val="0"/>
              </a:spcAft>
              <a:buNone/>
            </a:pPr>
            <a:endParaRPr sz="1100">
              <a:solidFill>
                <a:schemeClr val="dk2"/>
              </a:solidFill>
              <a:latin typeface="Roboto"/>
              <a:ea typeface="Roboto"/>
              <a:cs typeface="Roboto"/>
              <a:sym typeface="Roboto"/>
            </a:endParaRPr>
          </a:p>
          <a:p>
            <a:pPr marL="457200" lvl="0" indent="-298450" algn="l" rtl="0">
              <a:spcBef>
                <a:spcPts val="0"/>
              </a:spcBef>
              <a:spcAft>
                <a:spcPts val="0"/>
              </a:spcAft>
              <a:buClr>
                <a:schemeClr val="dk2"/>
              </a:buClr>
              <a:buSzPts val="1100"/>
              <a:buFont typeface="Roboto"/>
              <a:buChar char="●"/>
            </a:pPr>
            <a:r>
              <a:rPr lang="en" sz="1100">
                <a:solidFill>
                  <a:schemeClr val="dk2"/>
                </a:solidFill>
                <a:latin typeface="Roboto"/>
                <a:ea typeface="Roboto"/>
                <a:cs typeface="Roboto"/>
                <a:sym typeface="Roboto"/>
              </a:rPr>
              <a:t>Growth is “bursty,” not steady: MoM growth shows big spikes, followed by normalization, which looks more like step-changes from holiday season/market expansions than smooth compounding.</a:t>
            </a:r>
            <a:endParaRPr sz="1100">
              <a:solidFill>
                <a:schemeClr val="dk2"/>
              </a:solidFill>
              <a:latin typeface="Roboto"/>
              <a:ea typeface="Roboto"/>
              <a:cs typeface="Roboto"/>
              <a:sym typeface="Roboto"/>
            </a:endParaRPr>
          </a:p>
          <a:p>
            <a:pPr marL="0" lvl="0" indent="0" algn="l" rtl="0">
              <a:spcBef>
                <a:spcPts val="0"/>
              </a:spcBef>
              <a:spcAft>
                <a:spcPts val="0"/>
              </a:spcAft>
              <a:buNone/>
            </a:pPr>
            <a:endParaRPr sz="1100">
              <a:solidFill>
                <a:schemeClr val="dk2"/>
              </a:solidFill>
              <a:latin typeface="Roboto"/>
              <a:ea typeface="Roboto"/>
              <a:cs typeface="Roboto"/>
              <a:sym typeface="Roboto"/>
            </a:endParaRPr>
          </a:p>
          <a:p>
            <a:pPr marL="457200" lvl="0" indent="-298450" algn="l" rtl="0">
              <a:spcBef>
                <a:spcPts val="0"/>
              </a:spcBef>
              <a:spcAft>
                <a:spcPts val="0"/>
              </a:spcAft>
              <a:buClr>
                <a:schemeClr val="dk2"/>
              </a:buClr>
              <a:buSzPts val="1100"/>
              <a:buFont typeface="Roboto"/>
              <a:buChar char="●"/>
            </a:pPr>
            <a:r>
              <a:rPr lang="en" sz="1100">
                <a:solidFill>
                  <a:schemeClr val="dk2"/>
                </a:solidFill>
                <a:latin typeface="Roboto"/>
                <a:ea typeface="Roboto"/>
                <a:cs typeface="Roboto"/>
                <a:sym typeface="Roboto"/>
              </a:rPr>
              <a:t>Early MoM spikes are inflated by small base: In the early period, MAW/revenue are small, so even modest absolute increases show up as very large % changes (small-denominator effect).</a:t>
            </a:r>
            <a:endParaRPr sz="1100">
              <a:solidFill>
                <a:schemeClr val="dk2"/>
              </a:solidFill>
              <a:latin typeface="Roboto"/>
              <a:ea typeface="Roboto"/>
              <a:cs typeface="Roboto"/>
              <a:sym typeface="Roboto"/>
            </a:endParaRPr>
          </a:p>
          <a:p>
            <a:pPr marL="0" lvl="0" indent="0" algn="l" rtl="0">
              <a:spcBef>
                <a:spcPts val="0"/>
              </a:spcBef>
              <a:spcAft>
                <a:spcPts val="0"/>
              </a:spcAft>
              <a:buNone/>
            </a:pPr>
            <a:endParaRPr sz="1100">
              <a:solidFill>
                <a:schemeClr val="dk2"/>
              </a:solidFill>
              <a:latin typeface="Roboto"/>
              <a:ea typeface="Roboto"/>
              <a:cs typeface="Roboto"/>
              <a:sym typeface="Roboto"/>
            </a:endParaRPr>
          </a:p>
          <a:p>
            <a:pPr marL="457200" lvl="0" indent="-298450" algn="l" rtl="0">
              <a:spcBef>
                <a:spcPts val="0"/>
              </a:spcBef>
              <a:spcAft>
                <a:spcPts val="0"/>
              </a:spcAft>
              <a:buClr>
                <a:schemeClr val="dk2"/>
              </a:buClr>
              <a:buSzPts val="1100"/>
              <a:buFont typeface="Roboto"/>
              <a:buChar char="●"/>
            </a:pPr>
            <a:r>
              <a:rPr lang="en" sz="1100">
                <a:solidFill>
                  <a:schemeClr val="dk2"/>
                </a:solidFill>
                <a:latin typeface="Roboto"/>
                <a:ea typeface="Roboto"/>
                <a:cs typeface="Roboto"/>
                <a:sym typeface="Roboto"/>
              </a:rPr>
              <a:t>Supply + demand seem to be scaling together: Since MAW and revenue increase in the same direction overall, it suggests IniTech is adding workers while still finding enough demand to keep them active, though the MoM volatility implies momentum may rely on episodic pushes rather than consistent growth.</a:t>
            </a:r>
            <a:endParaRPr sz="1100">
              <a:solidFill>
                <a:schemeClr val="dk2"/>
              </a:solidFill>
              <a:latin typeface="Roboto"/>
              <a:ea typeface="Roboto"/>
              <a:cs typeface="Roboto"/>
              <a:sym typeface="Roboto"/>
            </a:endParaRPr>
          </a:p>
        </p:txBody>
      </p:sp>
      <p:sp>
        <p:nvSpPr>
          <p:cNvPr id="113" name="Google Shape;113;p15"/>
          <p:cNvSpPr txBox="1"/>
          <p:nvPr/>
        </p:nvSpPr>
        <p:spPr>
          <a:xfrm>
            <a:off x="20750" y="12025"/>
            <a:ext cx="4425600" cy="688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100">
                <a:solidFill>
                  <a:schemeClr val="dk2"/>
                </a:solidFill>
                <a:latin typeface="Georgia"/>
                <a:ea typeface="Georgia"/>
                <a:cs typeface="Georgia"/>
                <a:sym typeface="Georgia"/>
              </a:rPr>
              <a:t>Workers and Revenue Growth</a:t>
            </a:r>
            <a:endParaRPr sz="2100">
              <a:solidFill>
                <a:schemeClr val="dk2"/>
              </a:solidFill>
              <a:latin typeface="Georgia"/>
              <a:ea typeface="Georgia"/>
              <a:cs typeface="Georgia"/>
              <a:sym typeface="Georgi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6"/>
          <p:cNvSpPr txBox="1"/>
          <p:nvPr/>
        </p:nvSpPr>
        <p:spPr>
          <a:xfrm>
            <a:off x="20750" y="572600"/>
            <a:ext cx="4425600" cy="4571100"/>
          </a:xfrm>
          <a:prstGeom prst="rect">
            <a:avLst/>
          </a:prstGeom>
          <a:noFill/>
          <a:ln>
            <a:noFill/>
          </a:ln>
        </p:spPr>
        <p:txBody>
          <a:bodyPr spcFirstLastPara="1" wrap="square" lIns="91425" tIns="91425" rIns="91425" bIns="91425" anchor="t" anchorCtr="0">
            <a:noAutofit/>
          </a:bodyPr>
          <a:lstStyle/>
          <a:p>
            <a:pPr marL="457200" lvl="0" indent="-301625" algn="l" rtl="0">
              <a:spcBef>
                <a:spcPts val="0"/>
              </a:spcBef>
              <a:spcAft>
                <a:spcPts val="0"/>
              </a:spcAft>
              <a:buClr>
                <a:schemeClr val="dk2"/>
              </a:buClr>
              <a:buSzPts val="1150"/>
              <a:buFont typeface="Roboto"/>
              <a:buChar char="●"/>
            </a:pPr>
            <a:r>
              <a:rPr lang="en" sz="1150">
                <a:solidFill>
                  <a:schemeClr val="dk2"/>
                </a:solidFill>
                <a:latin typeface="Roboto"/>
                <a:ea typeface="Roboto"/>
                <a:cs typeface="Roboto"/>
                <a:sym typeface="Roboto"/>
              </a:rPr>
              <a:t>Retention drops fast early on (high churn): The blended curve falls from 100% at month 0 to about ~70% by month 1, then to roughly ~46% by month 3 and ~34% around month 6. This suggests a lot of workers try the platform but don’t become repeat/consistent users in the first few months.</a:t>
            </a:r>
            <a:endParaRPr sz="1150">
              <a:solidFill>
                <a:schemeClr val="dk2"/>
              </a:solidFill>
              <a:latin typeface="Roboto"/>
              <a:ea typeface="Roboto"/>
              <a:cs typeface="Roboto"/>
              <a:sym typeface="Roboto"/>
            </a:endParaRPr>
          </a:p>
          <a:p>
            <a:pPr marL="457200" lvl="0" indent="0" algn="l" rtl="0">
              <a:spcBef>
                <a:spcPts val="0"/>
              </a:spcBef>
              <a:spcAft>
                <a:spcPts val="0"/>
              </a:spcAft>
              <a:buNone/>
            </a:pPr>
            <a:endParaRPr sz="1150">
              <a:solidFill>
                <a:schemeClr val="dk2"/>
              </a:solidFill>
              <a:latin typeface="Roboto"/>
              <a:ea typeface="Roboto"/>
              <a:cs typeface="Roboto"/>
              <a:sym typeface="Roboto"/>
            </a:endParaRPr>
          </a:p>
          <a:p>
            <a:pPr marL="457200" lvl="0" indent="-301625" algn="l" rtl="0">
              <a:spcBef>
                <a:spcPts val="0"/>
              </a:spcBef>
              <a:spcAft>
                <a:spcPts val="0"/>
              </a:spcAft>
              <a:buClr>
                <a:schemeClr val="dk2"/>
              </a:buClr>
              <a:buSzPts val="1150"/>
              <a:buFont typeface="Roboto"/>
              <a:buChar char="●"/>
            </a:pPr>
            <a:r>
              <a:rPr lang="en" sz="1150">
                <a:solidFill>
                  <a:schemeClr val="dk2"/>
                </a:solidFill>
                <a:latin typeface="Roboto"/>
                <a:ea typeface="Roboto"/>
                <a:cs typeface="Roboto"/>
                <a:sym typeface="Roboto"/>
              </a:rPr>
              <a:t>There’s still a long-tail “core” of workers: After the first ~6–12 months, retention flattens and generally sits in the ~10–20% range for older worker ages. That implies a smaller group of workers keeps coming back and likely drives a meaningful portion of ongoing volume.</a:t>
            </a:r>
            <a:endParaRPr sz="1150">
              <a:solidFill>
                <a:schemeClr val="dk2"/>
              </a:solidFill>
              <a:latin typeface="Roboto"/>
              <a:ea typeface="Roboto"/>
              <a:cs typeface="Roboto"/>
              <a:sym typeface="Roboto"/>
            </a:endParaRPr>
          </a:p>
          <a:p>
            <a:pPr marL="457200" lvl="0" indent="0" algn="l" rtl="0">
              <a:spcBef>
                <a:spcPts val="0"/>
              </a:spcBef>
              <a:spcAft>
                <a:spcPts val="0"/>
              </a:spcAft>
              <a:buNone/>
            </a:pPr>
            <a:endParaRPr sz="1150">
              <a:solidFill>
                <a:schemeClr val="dk2"/>
              </a:solidFill>
              <a:latin typeface="Roboto"/>
              <a:ea typeface="Roboto"/>
              <a:cs typeface="Roboto"/>
              <a:sym typeface="Roboto"/>
            </a:endParaRPr>
          </a:p>
          <a:p>
            <a:pPr marL="457200" lvl="0" indent="-301625" algn="l" rtl="0">
              <a:spcBef>
                <a:spcPts val="0"/>
              </a:spcBef>
              <a:spcAft>
                <a:spcPts val="0"/>
              </a:spcAft>
              <a:buClr>
                <a:schemeClr val="dk2"/>
              </a:buClr>
              <a:buSzPts val="1150"/>
              <a:buFont typeface="Roboto"/>
              <a:buChar char="●"/>
            </a:pPr>
            <a:r>
              <a:rPr lang="en" sz="1150">
                <a:solidFill>
                  <a:schemeClr val="dk2"/>
                </a:solidFill>
                <a:latin typeface="Roboto"/>
                <a:ea typeface="Roboto"/>
                <a:cs typeface="Roboto"/>
                <a:sym typeface="Roboto"/>
              </a:rPr>
              <a:t>Cohort heatmap supports the same story: Most cohorts show the expected diagonal fade (retention decreasing as months_since_cohort increases), with some cohort-to-cohort variation. The blank cells toward the far right are mostly right-censoring (newer cohorts haven’t existed long enough to observe later-month retention).</a:t>
            </a:r>
            <a:endParaRPr sz="1150">
              <a:solidFill>
                <a:schemeClr val="dk2"/>
              </a:solidFill>
              <a:latin typeface="Roboto"/>
              <a:ea typeface="Roboto"/>
              <a:cs typeface="Roboto"/>
              <a:sym typeface="Roboto"/>
            </a:endParaRPr>
          </a:p>
          <a:p>
            <a:pPr marL="457200" lvl="0" indent="0" algn="l" rtl="0">
              <a:spcBef>
                <a:spcPts val="0"/>
              </a:spcBef>
              <a:spcAft>
                <a:spcPts val="0"/>
              </a:spcAft>
              <a:buNone/>
            </a:pPr>
            <a:endParaRPr sz="1150">
              <a:solidFill>
                <a:schemeClr val="dk2"/>
              </a:solidFill>
              <a:latin typeface="Roboto"/>
              <a:ea typeface="Roboto"/>
              <a:cs typeface="Roboto"/>
              <a:sym typeface="Roboto"/>
            </a:endParaRPr>
          </a:p>
          <a:p>
            <a:pPr marL="457200" lvl="0" indent="-301625" algn="l" rtl="0">
              <a:spcBef>
                <a:spcPts val="0"/>
              </a:spcBef>
              <a:spcAft>
                <a:spcPts val="0"/>
              </a:spcAft>
              <a:buClr>
                <a:schemeClr val="dk2"/>
              </a:buClr>
              <a:buSzPts val="1150"/>
              <a:buFont typeface="Roboto"/>
              <a:buChar char="●"/>
            </a:pPr>
            <a:r>
              <a:rPr lang="en" sz="1150">
                <a:solidFill>
                  <a:schemeClr val="dk2"/>
                </a:solidFill>
                <a:latin typeface="Roboto"/>
                <a:ea typeface="Roboto"/>
                <a:cs typeface="Roboto"/>
                <a:sym typeface="Roboto"/>
              </a:rPr>
              <a:t>What it means for the business: The biggest opportunity is improving early retention (month 1–3), that’s where the largest drop happens, so even small improvements there should meaningfully increase worker LTV(Lifetime Value) and reduce reliance on constantly acquiring new workers.</a:t>
            </a:r>
            <a:endParaRPr sz="1150">
              <a:solidFill>
                <a:schemeClr val="dk2"/>
              </a:solidFill>
              <a:latin typeface="Roboto"/>
              <a:ea typeface="Roboto"/>
              <a:cs typeface="Roboto"/>
              <a:sym typeface="Roboto"/>
            </a:endParaRPr>
          </a:p>
        </p:txBody>
      </p:sp>
      <p:sp>
        <p:nvSpPr>
          <p:cNvPr id="119" name="Google Shape;119;p16"/>
          <p:cNvSpPr txBox="1"/>
          <p:nvPr/>
        </p:nvSpPr>
        <p:spPr>
          <a:xfrm>
            <a:off x="20750" y="12025"/>
            <a:ext cx="4425600" cy="688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100">
                <a:solidFill>
                  <a:schemeClr val="dk2"/>
                </a:solidFill>
                <a:latin typeface="Georgia"/>
                <a:ea typeface="Georgia"/>
                <a:cs typeface="Georgia"/>
                <a:sym typeface="Georgia"/>
              </a:rPr>
              <a:t>Cohort Retention</a:t>
            </a:r>
            <a:endParaRPr sz="2100">
              <a:solidFill>
                <a:schemeClr val="dk2"/>
              </a:solidFill>
              <a:latin typeface="Georgia"/>
              <a:ea typeface="Georgia"/>
              <a:cs typeface="Georgia"/>
              <a:sym typeface="Georgia"/>
            </a:endParaRPr>
          </a:p>
        </p:txBody>
      </p:sp>
      <p:pic>
        <p:nvPicPr>
          <p:cNvPr id="120" name="Google Shape;120;p16"/>
          <p:cNvPicPr preferRelativeResize="0"/>
          <p:nvPr/>
        </p:nvPicPr>
        <p:blipFill>
          <a:blip r:embed="rId3">
            <a:alphaModFix/>
          </a:blip>
          <a:stretch>
            <a:fillRect/>
          </a:stretch>
        </p:blipFill>
        <p:spPr>
          <a:xfrm>
            <a:off x="4572000" y="0"/>
            <a:ext cx="4572000" cy="2159151"/>
          </a:xfrm>
          <a:prstGeom prst="rect">
            <a:avLst/>
          </a:prstGeom>
          <a:noFill/>
          <a:ln>
            <a:noFill/>
          </a:ln>
        </p:spPr>
      </p:pic>
      <p:pic>
        <p:nvPicPr>
          <p:cNvPr id="121" name="Google Shape;121;p16"/>
          <p:cNvPicPr preferRelativeResize="0"/>
          <p:nvPr/>
        </p:nvPicPr>
        <p:blipFill>
          <a:blip r:embed="rId4">
            <a:alphaModFix/>
          </a:blip>
          <a:stretch>
            <a:fillRect/>
          </a:stretch>
        </p:blipFill>
        <p:spPr>
          <a:xfrm>
            <a:off x="4572000" y="2311550"/>
            <a:ext cx="4572000" cy="2832149"/>
          </a:xfrm>
          <a:prstGeom prst="rect">
            <a:avLst/>
          </a:prstGeom>
          <a:noFill/>
          <a:ln>
            <a:noFill/>
          </a:ln>
        </p:spPr>
      </p:pic>
      <p:sp>
        <p:nvSpPr>
          <p:cNvPr id="122" name="Google Shape;122;p16"/>
          <p:cNvSpPr txBox="1"/>
          <p:nvPr/>
        </p:nvSpPr>
        <p:spPr>
          <a:xfrm>
            <a:off x="7209875" y="2539525"/>
            <a:ext cx="1504800" cy="19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a:solidFill>
                  <a:schemeClr val="dk2"/>
                </a:solidFill>
                <a:latin typeface="Roboto"/>
                <a:ea typeface="Roboto"/>
                <a:cs typeface="Roboto"/>
                <a:sym typeface="Roboto"/>
              </a:rPr>
              <a:t>Blank spaces = cohort not old enough yet</a:t>
            </a:r>
            <a:endParaRPr sz="700">
              <a:solidFill>
                <a:schemeClr val="dk2"/>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17"/>
          <p:cNvSpPr txBox="1"/>
          <p:nvPr/>
        </p:nvSpPr>
        <p:spPr>
          <a:xfrm>
            <a:off x="20750" y="395700"/>
            <a:ext cx="4504200" cy="4828500"/>
          </a:xfrm>
          <a:prstGeom prst="rect">
            <a:avLst/>
          </a:prstGeom>
          <a:noFill/>
          <a:ln>
            <a:noFill/>
          </a:ln>
        </p:spPr>
        <p:txBody>
          <a:bodyPr spcFirstLastPara="1" wrap="square" lIns="91425" tIns="91425" rIns="91425" bIns="91425" anchor="t" anchorCtr="0">
            <a:noAutofit/>
          </a:bodyPr>
          <a:lstStyle/>
          <a:p>
            <a:pPr marL="457200" lvl="0" indent="-301625" algn="l" rtl="0">
              <a:spcBef>
                <a:spcPts val="0"/>
              </a:spcBef>
              <a:spcAft>
                <a:spcPts val="0"/>
              </a:spcAft>
              <a:buClr>
                <a:schemeClr val="dk2"/>
              </a:buClr>
              <a:buSzPts val="1150"/>
              <a:buFont typeface="Roboto"/>
              <a:buChar char="●"/>
            </a:pPr>
            <a:r>
              <a:rPr lang="en" sz="1150">
                <a:solidFill>
                  <a:schemeClr val="dk2"/>
                </a:solidFill>
                <a:latin typeface="Roboto"/>
                <a:ea typeface="Roboto"/>
                <a:cs typeface="Roboto"/>
                <a:sym typeface="Roboto"/>
              </a:rPr>
              <a:t>Worker value ramps with tenure: The worker value chart suggests that as workers stay longer, they become more productive. Avg revenue per active worker stabilizes around ~$1.5k–$2.2k, and avg net take per active worker generally sits around ~$250–$450, meaning retained workers generate more consistent value for the platform.</a:t>
            </a:r>
            <a:endParaRPr sz="1150">
              <a:solidFill>
                <a:schemeClr val="dk2"/>
              </a:solidFill>
              <a:latin typeface="Roboto"/>
              <a:ea typeface="Roboto"/>
              <a:cs typeface="Roboto"/>
              <a:sym typeface="Roboto"/>
            </a:endParaRPr>
          </a:p>
          <a:p>
            <a:pPr marL="457200" lvl="0" indent="0" algn="l" rtl="0">
              <a:spcBef>
                <a:spcPts val="0"/>
              </a:spcBef>
              <a:spcAft>
                <a:spcPts val="0"/>
              </a:spcAft>
              <a:buNone/>
            </a:pPr>
            <a:endParaRPr sz="1150">
              <a:solidFill>
                <a:schemeClr val="dk2"/>
              </a:solidFill>
              <a:latin typeface="Roboto"/>
              <a:ea typeface="Roboto"/>
              <a:cs typeface="Roboto"/>
              <a:sym typeface="Roboto"/>
            </a:endParaRPr>
          </a:p>
          <a:p>
            <a:pPr marL="457200" lvl="0" indent="-301625" algn="l" rtl="0">
              <a:spcBef>
                <a:spcPts val="0"/>
              </a:spcBef>
              <a:spcAft>
                <a:spcPts val="0"/>
              </a:spcAft>
              <a:buClr>
                <a:schemeClr val="dk2"/>
              </a:buClr>
              <a:buSzPts val="1150"/>
              <a:buFont typeface="Roboto"/>
              <a:buChar char="●"/>
            </a:pPr>
            <a:r>
              <a:rPr lang="en" sz="1150">
                <a:solidFill>
                  <a:schemeClr val="dk2"/>
                </a:solidFill>
                <a:latin typeface="Roboto"/>
                <a:ea typeface="Roboto"/>
                <a:cs typeface="Roboto"/>
                <a:sym typeface="Roboto"/>
              </a:rPr>
              <a:t>Blended LTV is meaningful by 12 months: Combining retention + value ramp, the blended estimates are about LTV6 (net take) ≈ $840 and LTV12 (net take) ≈ $1,381. For volume context, LTV6 revenue ≈ $4,350 and LTV12 revenue ≈ $7,145.</a:t>
            </a:r>
            <a:endParaRPr sz="1150">
              <a:solidFill>
                <a:schemeClr val="dk2"/>
              </a:solidFill>
              <a:latin typeface="Roboto"/>
              <a:ea typeface="Roboto"/>
              <a:cs typeface="Roboto"/>
              <a:sym typeface="Roboto"/>
            </a:endParaRPr>
          </a:p>
          <a:p>
            <a:pPr marL="457200" lvl="0" indent="0" algn="l" rtl="0">
              <a:spcBef>
                <a:spcPts val="0"/>
              </a:spcBef>
              <a:spcAft>
                <a:spcPts val="0"/>
              </a:spcAft>
              <a:buNone/>
            </a:pPr>
            <a:endParaRPr sz="1150">
              <a:solidFill>
                <a:schemeClr val="dk2"/>
              </a:solidFill>
              <a:latin typeface="Roboto"/>
              <a:ea typeface="Roboto"/>
              <a:cs typeface="Roboto"/>
              <a:sym typeface="Roboto"/>
            </a:endParaRPr>
          </a:p>
          <a:p>
            <a:pPr marL="457200" lvl="0" indent="-301625" algn="l" rtl="0">
              <a:spcBef>
                <a:spcPts val="0"/>
              </a:spcBef>
              <a:spcAft>
                <a:spcPts val="0"/>
              </a:spcAft>
              <a:buClr>
                <a:schemeClr val="dk2"/>
              </a:buClr>
              <a:buSzPts val="1150"/>
              <a:buFont typeface="Roboto"/>
              <a:buChar char="●"/>
            </a:pPr>
            <a:r>
              <a:rPr lang="en" sz="1150">
                <a:solidFill>
                  <a:schemeClr val="dk2"/>
                </a:solidFill>
                <a:latin typeface="Roboto"/>
                <a:ea typeface="Roboto"/>
                <a:cs typeface="Roboto"/>
                <a:sym typeface="Roboto"/>
              </a:rPr>
              <a:t>Acquisition efficiency looks inconsistent month-to-month: The marketing spend vs new workers chart shows that increases in spend don’t always translate into proportional new worker growth, which points to CAC volatility (channel mix / seasonality / diminishing returns).</a:t>
            </a:r>
            <a:endParaRPr sz="1150">
              <a:solidFill>
                <a:schemeClr val="dk2"/>
              </a:solidFill>
              <a:latin typeface="Roboto"/>
              <a:ea typeface="Roboto"/>
              <a:cs typeface="Roboto"/>
              <a:sym typeface="Roboto"/>
            </a:endParaRPr>
          </a:p>
          <a:p>
            <a:pPr marL="457200" lvl="0" indent="0" algn="l" rtl="0">
              <a:spcBef>
                <a:spcPts val="0"/>
              </a:spcBef>
              <a:spcAft>
                <a:spcPts val="0"/>
              </a:spcAft>
              <a:buNone/>
            </a:pPr>
            <a:endParaRPr sz="1150">
              <a:solidFill>
                <a:schemeClr val="dk2"/>
              </a:solidFill>
              <a:latin typeface="Roboto"/>
              <a:ea typeface="Roboto"/>
              <a:cs typeface="Roboto"/>
              <a:sym typeface="Roboto"/>
            </a:endParaRPr>
          </a:p>
          <a:p>
            <a:pPr marL="457200" lvl="0" indent="-301625" algn="l" rtl="0">
              <a:spcBef>
                <a:spcPts val="0"/>
              </a:spcBef>
              <a:spcAft>
                <a:spcPts val="0"/>
              </a:spcAft>
              <a:buClr>
                <a:schemeClr val="dk2"/>
              </a:buClr>
              <a:buSzPts val="1150"/>
              <a:buFont typeface="Roboto"/>
              <a:buChar char="●"/>
            </a:pPr>
            <a:r>
              <a:rPr lang="en" sz="1150">
                <a:solidFill>
                  <a:schemeClr val="dk2"/>
                </a:solidFill>
                <a:latin typeface="Roboto"/>
                <a:ea typeface="Roboto"/>
                <a:cs typeface="Roboto"/>
                <a:sym typeface="Roboto"/>
              </a:rPr>
              <a:t>What they can pay to acquire a worker: Median worker CAC is roughly ~$792. That puts LTV6/CAC ≈ 1.06 (near break-even by ~6 months on net take) and LTV12/CAC ≈ 1.74 (better by 12 months). Using a more conservative gross-profit proxy, gmLTV6/CAC ≈ 0.86 and gmLTV12/CAC ≈ 1.42, so payback is stronger over a 12-month view than a 6-month view.</a:t>
            </a:r>
            <a:endParaRPr sz="1150">
              <a:solidFill>
                <a:schemeClr val="dk2"/>
              </a:solidFill>
              <a:latin typeface="Roboto"/>
              <a:ea typeface="Roboto"/>
              <a:cs typeface="Roboto"/>
              <a:sym typeface="Roboto"/>
            </a:endParaRPr>
          </a:p>
        </p:txBody>
      </p:sp>
      <p:sp>
        <p:nvSpPr>
          <p:cNvPr id="128" name="Google Shape;128;p17"/>
          <p:cNvSpPr txBox="1"/>
          <p:nvPr/>
        </p:nvSpPr>
        <p:spPr>
          <a:xfrm>
            <a:off x="60050" y="0"/>
            <a:ext cx="4425600" cy="395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100">
                <a:solidFill>
                  <a:schemeClr val="dk2"/>
                </a:solidFill>
                <a:latin typeface="Georgia"/>
                <a:ea typeface="Georgia"/>
                <a:cs typeface="Georgia"/>
                <a:sym typeface="Georgia"/>
              </a:rPr>
              <a:t>Worker’s Value and CAC</a:t>
            </a:r>
            <a:endParaRPr sz="2100">
              <a:solidFill>
                <a:schemeClr val="dk2"/>
              </a:solidFill>
              <a:latin typeface="Georgia"/>
              <a:ea typeface="Georgia"/>
              <a:cs typeface="Georgia"/>
              <a:sym typeface="Georgia"/>
            </a:endParaRPr>
          </a:p>
        </p:txBody>
      </p:sp>
      <p:sp>
        <p:nvSpPr>
          <p:cNvPr id="129" name="Google Shape;129;p17"/>
          <p:cNvSpPr txBox="1"/>
          <p:nvPr/>
        </p:nvSpPr>
        <p:spPr>
          <a:xfrm>
            <a:off x="7209875" y="2539525"/>
            <a:ext cx="1504800" cy="19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a:solidFill>
                  <a:schemeClr val="dk2"/>
                </a:solidFill>
                <a:latin typeface="Roboto"/>
                <a:ea typeface="Roboto"/>
                <a:cs typeface="Roboto"/>
                <a:sym typeface="Roboto"/>
              </a:rPr>
              <a:t>Blank spaces = cohort not old enough yet</a:t>
            </a:r>
            <a:endParaRPr sz="700">
              <a:solidFill>
                <a:schemeClr val="dk2"/>
              </a:solidFill>
              <a:latin typeface="Roboto"/>
              <a:ea typeface="Roboto"/>
              <a:cs typeface="Roboto"/>
              <a:sym typeface="Roboto"/>
            </a:endParaRPr>
          </a:p>
        </p:txBody>
      </p:sp>
      <p:pic>
        <p:nvPicPr>
          <p:cNvPr id="130" name="Google Shape;130;p17"/>
          <p:cNvPicPr preferRelativeResize="0"/>
          <p:nvPr/>
        </p:nvPicPr>
        <p:blipFill>
          <a:blip r:embed="rId3">
            <a:alphaModFix/>
          </a:blip>
          <a:stretch>
            <a:fillRect/>
          </a:stretch>
        </p:blipFill>
        <p:spPr>
          <a:xfrm>
            <a:off x="4566000" y="0"/>
            <a:ext cx="4577999" cy="2130801"/>
          </a:xfrm>
          <a:prstGeom prst="rect">
            <a:avLst/>
          </a:prstGeom>
          <a:noFill/>
          <a:ln>
            <a:noFill/>
          </a:ln>
        </p:spPr>
      </p:pic>
      <p:pic>
        <p:nvPicPr>
          <p:cNvPr id="131" name="Google Shape;131;p17"/>
          <p:cNvPicPr preferRelativeResize="0"/>
          <p:nvPr/>
        </p:nvPicPr>
        <p:blipFill>
          <a:blip r:embed="rId4">
            <a:alphaModFix/>
          </a:blip>
          <a:stretch>
            <a:fillRect/>
          </a:stretch>
        </p:blipFill>
        <p:spPr>
          <a:xfrm>
            <a:off x="4566000" y="2185475"/>
            <a:ext cx="4578001" cy="295822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18"/>
          <p:cNvSpPr txBox="1"/>
          <p:nvPr/>
        </p:nvSpPr>
        <p:spPr>
          <a:xfrm>
            <a:off x="20750" y="572600"/>
            <a:ext cx="4425600" cy="4571100"/>
          </a:xfrm>
          <a:prstGeom prst="rect">
            <a:avLst/>
          </a:prstGeom>
          <a:noFill/>
          <a:ln>
            <a:noFill/>
          </a:ln>
        </p:spPr>
        <p:txBody>
          <a:bodyPr spcFirstLastPara="1" wrap="square" lIns="91425" tIns="91425" rIns="91425" bIns="91425" anchor="t" anchorCtr="0">
            <a:noAutofit/>
          </a:bodyPr>
          <a:lstStyle/>
          <a:p>
            <a:pPr marL="457200" lvl="0" indent="-301625" algn="l" rtl="0">
              <a:spcBef>
                <a:spcPts val="0"/>
              </a:spcBef>
              <a:spcAft>
                <a:spcPts val="0"/>
              </a:spcAft>
              <a:buClr>
                <a:schemeClr val="dk2"/>
              </a:buClr>
              <a:buSzPts val="1150"/>
              <a:buFont typeface="Roboto"/>
              <a:buChar char="●"/>
            </a:pPr>
            <a:r>
              <a:rPr lang="en" sz="1150">
                <a:solidFill>
                  <a:schemeClr val="dk2"/>
                </a:solidFill>
                <a:latin typeface="Roboto"/>
                <a:ea typeface="Roboto"/>
                <a:cs typeface="Roboto"/>
                <a:sym typeface="Roboto"/>
              </a:rPr>
              <a:t>As IniTech scales, the most interesting (and risky) dynamic is that growth currently looks loss-amplifying: higher revenue months line up with more negative EBITDA, likely because revenue scales closely with worker pay (a large pass-through cost) and the company hasn’t shown operating leverage yet. With CAC (median) ≈ $792 and LTV6/LTV12 (net take) ≈ $840/$1,381 (so LTV6/CAC ≈ 1.06 and LTV12/CAC ≈ 1.74), the model can pay back over ~12 months, but the buffer isn’t huge, so at scale it will be important to see whether they can increase take rate/net take per job and lower overhead per job to shift from “revenue up → losses up” toward break-even/positive EBITDA.</a:t>
            </a:r>
            <a:endParaRPr sz="1150">
              <a:solidFill>
                <a:schemeClr val="dk2"/>
              </a:solidFill>
              <a:latin typeface="Roboto"/>
              <a:ea typeface="Roboto"/>
              <a:cs typeface="Roboto"/>
              <a:sym typeface="Roboto"/>
            </a:endParaRPr>
          </a:p>
          <a:p>
            <a:pPr marL="457200" lvl="0" indent="0" algn="l" rtl="0">
              <a:spcBef>
                <a:spcPts val="0"/>
              </a:spcBef>
              <a:spcAft>
                <a:spcPts val="0"/>
              </a:spcAft>
              <a:buNone/>
            </a:pPr>
            <a:endParaRPr sz="1150">
              <a:solidFill>
                <a:schemeClr val="dk2"/>
              </a:solidFill>
              <a:latin typeface="Roboto"/>
              <a:ea typeface="Roboto"/>
              <a:cs typeface="Roboto"/>
              <a:sym typeface="Roboto"/>
            </a:endParaRPr>
          </a:p>
          <a:p>
            <a:pPr marL="457200" lvl="0" indent="-301625" algn="l" rtl="0">
              <a:spcBef>
                <a:spcPts val="0"/>
              </a:spcBef>
              <a:spcAft>
                <a:spcPts val="0"/>
              </a:spcAft>
              <a:buClr>
                <a:schemeClr val="dk2"/>
              </a:buClr>
              <a:buSzPts val="1150"/>
              <a:buFont typeface="Roboto"/>
              <a:buChar char="●"/>
            </a:pPr>
            <a:r>
              <a:rPr lang="en" sz="1150">
                <a:solidFill>
                  <a:schemeClr val="dk2"/>
                </a:solidFill>
                <a:latin typeface="Roboto"/>
                <a:ea typeface="Roboto"/>
                <a:cs typeface="Roboto"/>
                <a:sym typeface="Roboto"/>
              </a:rPr>
              <a:t>The key question is whether they can flip the trend to EBITDA break-even/positive by improving early retention and net take. Using the worker-side metrics we computed, the business does have a base to build on: retention forms a long-tail core and worker value ramps with tenure, which supports LTV6 / LTV12 improving as workers stay longer. A practical approach is to pilot improvements first in high-LTV, high-volume markets (e.g., LA, SF Bay, NYC/DC) and then roll out broadly if unit economics and EBITDA trajectory improve.</a:t>
            </a:r>
            <a:endParaRPr sz="1150">
              <a:solidFill>
                <a:schemeClr val="dk2"/>
              </a:solidFill>
              <a:latin typeface="Roboto"/>
              <a:ea typeface="Roboto"/>
              <a:cs typeface="Roboto"/>
              <a:sym typeface="Roboto"/>
            </a:endParaRPr>
          </a:p>
          <a:p>
            <a:pPr marL="0" lvl="0" indent="0" algn="l" rtl="0">
              <a:spcBef>
                <a:spcPts val="0"/>
              </a:spcBef>
              <a:spcAft>
                <a:spcPts val="0"/>
              </a:spcAft>
              <a:buNone/>
            </a:pPr>
            <a:endParaRPr sz="1150">
              <a:solidFill>
                <a:schemeClr val="dk2"/>
              </a:solidFill>
              <a:latin typeface="Roboto"/>
              <a:ea typeface="Roboto"/>
              <a:cs typeface="Roboto"/>
              <a:sym typeface="Roboto"/>
            </a:endParaRPr>
          </a:p>
          <a:p>
            <a:pPr marL="0" lvl="0" indent="0" algn="l" rtl="0">
              <a:spcBef>
                <a:spcPts val="0"/>
              </a:spcBef>
              <a:spcAft>
                <a:spcPts val="0"/>
              </a:spcAft>
              <a:buNone/>
            </a:pPr>
            <a:endParaRPr sz="1150">
              <a:solidFill>
                <a:schemeClr val="dk2"/>
              </a:solidFill>
              <a:latin typeface="Roboto"/>
              <a:ea typeface="Roboto"/>
              <a:cs typeface="Roboto"/>
              <a:sym typeface="Roboto"/>
            </a:endParaRPr>
          </a:p>
        </p:txBody>
      </p:sp>
      <p:sp>
        <p:nvSpPr>
          <p:cNvPr id="137" name="Google Shape;137;p18"/>
          <p:cNvSpPr txBox="1"/>
          <p:nvPr/>
        </p:nvSpPr>
        <p:spPr>
          <a:xfrm>
            <a:off x="20750" y="12025"/>
            <a:ext cx="4425600" cy="688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100">
                <a:solidFill>
                  <a:schemeClr val="dk2"/>
                </a:solidFill>
                <a:latin typeface="Georgia"/>
                <a:ea typeface="Georgia"/>
                <a:cs typeface="Georgia"/>
                <a:sym typeface="Georgia"/>
              </a:rPr>
              <a:t>What’s interesting if they scale?</a:t>
            </a:r>
            <a:endParaRPr sz="2100">
              <a:solidFill>
                <a:schemeClr val="dk2"/>
              </a:solidFill>
              <a:latin typeface="Georgia"/>
              <a:ea typeface="Georgia"/>
              <a:cs typeface="Georgia"/>
              <a:sym typeface="Georgia"/>
            </a:endParaRPr>
          </a:p>
        </p:txBody>
      </p:sp>
      <p:sp>
        <p:nvSpPr>
          <p:cNvPr id="138" name="Google Shape;138;p18"/>
          <p:cNvSpPr txBox="1"/>
          <p:nvPr/>
        </p:nvSpPr>
        <p:spPr>
          <a:xfrm>
            <a:off x="7209875" y="2539525"/>
            <a:ext cx="1504800" cy="19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a:solidFill>
                  <a:schemeClr val="dk2"/>
                </a:solidFill>
                <a:latin typeface="Roboto"/>
                <a:ea typeface="Roboto"/>
                <a:cs typeface="Roboto"/>
                <a:sym typeface="Roboto"/>
              </a:rPr>
              <a:t>Blank spaces = cohort not old enough yet</a:t>
            </a:r>
            <a:endParaRPr sz="700">
              <a:solidFill>
                <a:schemeClr val="dk2"/>
              </a:solidFill>
              <a:latin typeface="Roboto"/>
              <a:ea typeface="Roboto"/>
              <a:cs typeface="Roboto"/>
              <a:sym typeface="Roboto"/>
            </a:endParaRPr>
          </a:p>
        </p:txBody>
      </p:sp>
      <p:pic>
        <p:nvPicPr>
          <p:cNvPr id="139" name="Google Shape;139;p18"/>
          <p:cNvPicPr preferRelativeResize="0"/>
          <p:nvPr/>
        </p:nvPicPr>
        <p:blipFill>
          <a:blip r:embed="rId3">
            <a:alphaModFix/>
          </a:blip>
          <a:stretch>
            <a:fillRect/>
          </a:stretch>
        </p:blipFill>
        <p:spPr>
          <a:xfrm>
            <a:off x="4572000" y="0"/>
            <a:ext cx="4571999" cy="2332975"/>
          </a:xfrm>
          <a:prstGeom prst="rect">
            <a:avLst/>
          </a:prstGeom>
          <a:noFill/>
          <a:ln>
            <a:noFill/>
          </a:ln>
        </p:spPr>
      </p:pic>
      <p:pic>
        <p:nvPicPr>
          <p:cNvPr id="140" name="Google Shape;140;p18"/>
          <p:cNvPicPr preferRelativeResize="0"/>
          <p:nvPr/>
        </p:nvPicPr>
        <p:blipFill>
          <a:blip r:embed="rId4">
            <a:alphaModFix/>
          </a:blip>
          <a:stretch>
            <a:fillRect/>
          </a:stretch>
        </p:blipFill>
        <p:spPr>
          <a:xfrm>
            <a:off x="4572000" y="2539525"/>
            <a:ext cx="4571999" cy="26041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19"/>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Key Findings</a:t>
            </a:r>
            <a:endParaRPr/>
          </a:p>
        </p:txBody>
      </p:sp>
      <p:sp>
        <p:nvSpPr>
          <p:cNvPr id="146" name="Google Shape;146;p19"/>
          <p:cNvSpPr/>
          <p:nvPr/>
        </p:nvSpPr>
        <p:spPr>
          <a:xfrm>
            <a:off x="205975" y="1304875"/>
            <a:ext cx="2214300" cy="607800"/>
          </a:xfrm>
          <a:prstGeom prst="homePlate">
            <a:avLst>
              <a:gd name="adj" fmla="val 50000"/>
            </a:avLst>
          </a:prstGeom>
          <a:solidFill>
            <a:schemeClr val="dk1"/>
          </a:solidFill>
          <a:ln>
            <a:noFill/>
          </a:ln>
        </p:spPr>
        <p:txBody>
          <a:bodyPr spcFirstLastPara="1" wrap="square" lIns="121875" tIns="121875" rIns="121875" bIns="121875" anchor="ctr" anchorCtr="0">
            <a:noAutofit/>
          </a:bodyPr>
          <a:lstStyle/>
          <a:p>
            <a:pPr marL="0" lvl="0" indent="0" algn="l" rtl="0">
              <a:spcBef>
                <a:spcPts val="0"/>
              </a:spcBef>
              <a:spcAft>
                <a:spcPts val="0"/>
              </a:spcAft>
              <a:buNone/>
            </a:pPr>
            <a:endParaRPr/>
          </a:p>
        </p:txBody>
      </p:sp>
      <p:sp>
        <p:nvSpPr>
          <p:cNvPr id="147" name="Google Shape;147;p19"/>
          <p:cNvSpPr txBox="1">
            <a:spLocks noGrp="1"/>
          </p:cNvSpPr>
          <p:nvPr>
            <p:ph type="body" idx="4294967295"/>
          </p:nvPr>
        </p:nvSpPr>
        <p:spPr>
          <a:xfrm>
            <a:off x="432350" y="1451576"/>
            <a:ext cx="2257200" cy="3144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a:solidFill>
                  <a:schemeClr val="lt1"/>
                </a:solidFill>
              </a:rPr>
              <a:t>Challenge 1</a:t>
            </a:r>
            <a:endParaRPr>
              <a:solidFill>
                <a:schemeClr val="lt1"/>
              </a:solidFill>
            </a:endParaRPr>
          </a:p>
        </p:txBody>
      </p:sp>
      <p:sp>
        <p:nvSpPr>
          <p:cNvPr id="148" name="Google Shape;148;p19"/>
          <p:cNvSpPr txBox="1">
            <a:spLocks noGrp="1"/>
          </p:cNvSpPr>
          <p:nvPr>
            <p:ph type="body" idx="4294967295"/>
          </p:nvPr>
        </p:nvSpPr>
        <p:spPr>
          <a:xfrm>
            <a:off x="77275" y="2070575"/>
            <a:ext cx="2257200" cy="3072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b="1"/>
              <a:t>Worker Retention</a:t>
            </a:r>
            <a:endParaRPr sz="1600" b="1"/>
          </a:p>
          <a:p>
            <a:pPr marL="0" lvl="0" indent="0" algn="l" rtl="0">
              <a:spcBef>
                <a:spcPts val="800"/>
              </a:spcBef>
              <a:spcAft>
                <a:spcPts val="800"/>
              </a:spcAft>
              <a:buNone/>
            </a:pPr>
            <a:r>
              <a:rPr lang="en" sz="1600" b="1"/>
              <a:t>Key finding</a:t>
            </a:r>
            <a:r>
              <a:rPr lang="en" sz="1600"/>
              <a:t>: Retention drops sharply early (big churn in months 1–3), then stabilizes into a smaller long-tail core of repeat workers.</a:t>
            </a:r>
            <a:endParaRPr sz="1600"/>
          </a:p>
        </p:txBody>
      </p:sp>
      <p:sp>
        <p:nvSpPr>
          <p:cNvPr id="149" name="Google Shape;149;p19"/>
          <p:cNvSpPr/>
          <p:nvPr/>
        </p:nvSpPr>
        <p:spPr>
          <a:xfrm>
            <a:off x="2389450" y="1304875"/>
            <a:ext cx="2325900" cy="607800"/>
          </a:xfrm>
          <a:prstGeom prst="chevron">
            <a:avLst>
              <a:gd name="adj" fmla="val 50000"/>
            </a:avLst>
          </a:prstGeom>
          <a:solidFill>
            <a:schemeClr val="dk1"/>
          </a:solidFill>
          <a:ln>
            <a:noFill/>
          </a:ln>
        </p:spPr>
        <p:txBody>
          <a:bodyPr spcFirstLastPara="1" wrap="square" lIns="121875" tIns="121875" rIns="121875" bIns="121875" anchor="ctr" anchorCtr="0">
            <a:noAutofit/>
          </a:bodyPr>
          <a:lstStyle/>
          <a:p>
            <a:pPr marL="0" lvl="0" indent="0" algn="l" rtl="0">
              <a:spcBef>
                <a:spcPts val="0"/>
              </a:spcBef>
              <a:spcAft>
                <a:spcPts val="0"/>
              </a:spcAft>
              <a:buNone/>
            </a:pPr>
            <a:endParaRPr/>
          </a:p>
        </p:txBody>
      </p:sp>
      <p:sp>
        <p:nvSpPr>
          <p:cNvPr id="150" name="Google Shape;150;p19"/>
          <p:cNvSpPr txBox="1">
            <a:spLocks noGrp="1"/>
          </p:cNvSpPr>
          <p:nvPr>
            <p:ph type="body" idx="4294967295"/>
          </p:nvPr>
        </p:nvSpPr>
        <p:spPr>
          <a:xfrm>
            <a:off x="2904050" y="1451576"/>
            <a:ext cx="2257200" cy="3144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a:solidFill>
                  <a:schemeClr val="lt1"/>
                </a:solidFill>
              </a:rPr>
              <a:t>Challenge 2</a:t>
            </a:r>
            <a:endParaRPr>
              <a:solidFill>
                <a:schemeClr val="lt1"/>
              </a:solidFill>
            </a:endParaRPr>
          </a:p>
        </p:txBody>
      </p:sp>
      <p:sp>
        <p:nvSpPr>
          <p:cNvPr id="151" name="Google Shape;151;p19"/>
          <p:cNvSpPr txBox="1">
            <a:spLocks noGrp="1"/>
          </p:cNvSpPr>
          <p:nvPr>
            <p:ph type="body" idx="4294967295"/>
          </p:nvPr>
        </p:nvSpPr>
        <p:spPr>
          <a:xfrm>
            <a:off x="2334475" y="2070575"/>
            <a:ext cx="2257200" cy="3072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b="1"/>
              <a:t>Acquisition Efficiency</a:t>
            </a:r>
            <a:endParaRPr sz="1600" b="1"/>
          </a:p>
          <a:p>
            <a:pPr marL="0" lvl="0" indent="0" algn="l" rtl="0">
              <a:spcBef>
                <a:spcPts val="800"/>
              </a:spcBef>
              <a:spcAft>
                <a:spcPts val="800"/>
              </a:spcAft>
              <a:buNone/>
            </a:pPr>
            <a:r>
              <a:rPr lang="en" sz="1600" b="1"/>
              <a:t>Key finding</a:t>
            </a:r>
            <a:r>
              <a:rPr lang="en" sz="1600"/>
              <a:t>: Worker marketing spend doesn’t translate into steady new-worker growth every month → CAC is volatile and acquisition looks inconsistent.</a:t>
            </a:r>
            <a:endParaRPr sz="1600"/>
          </a:p>
        </p:txBody>
      </p:sp>
      <p:sp>
        <p:nvSpPr>
          <p:cNvPr id="152" name="Google Shape;152;p19"/>
          <p:cNvSpPr/>
          <p:nvPr/>
        </p:nvSpPr>
        <p:spPr>
          <a:xfrm>
            <a:off x="4633075" y="1304875"/>
            <a:ext cx="2214300" cy="607800"/>
          </a:xfrm>
          <a:prstGeom prst="chevron">
            <a:avLst>
              <a:gd name="adj" fmla="val 50000"/>
            </a:avLst>
          </a:prstGeom>
          <a:solidFill>
            <a:schemeClr val="dk1"/>
          </a:solidFill>
          <a:ln>
            <a:noFill/>
          </a:ln>
        </p:spPr>
        <p:txBody>
          <a:bodyPr spcFirstLastPara="1" wrap="square" lIns="121875" tIns="121875" rIns="121875" bIns="121875" anchor="ctr" anchorCtr="0">
            <a:noAutofit/>
          </a:bodyPr>
          <a:lstStyle/>
          <a:p>
            <a:pPr marL="0" lvl="0" indent="0" algn="l" rtl="0">
              <a:spcBef>
                <a:spcPts val="0"/>
              </a:spcBef>
              <a:spcAft>
                <a:spcPts val="0"/>
              </a:spcAft>
              <a:buNone/>
            </a:pPr>
            <a:endParaRPr/>
          </a:p>
        </p:txBody>
      </p:sp>
      <p:sp>
        <p:nvSpPr>
          <p:cNvPr id="153" name="Google Shape;153;p19"/>
          <p:cNvSpPr txBox="1">
            <a:spLocks noGrp="1"/>
          </p:cNvSpPr>
          <p:nvPr>
            <p:ph type="body" idx="4294967295"/>
          </p:nvPr>
        </p:nvSpPr>
        <p:spPr>
          <a:xfrm>
            <a:off x="4985558" y="1451576"/>
            <a:ext cx="2257200" cy="3144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a:solidFill>
                  <a:schemeClr val="lt1"/>
                </a:solidFill>
              </a:rPr>
              <a:t>Challenge 3</a:t>
            </a:r>
            <a:endParaRPr>
              <a:solidFill>
                <a:schemeClr val="lt1"/>
              </a:solidFill>
            </a:endParaRPr>
          </a:p>
        </p:txBody>
      </p:sp>
      <p:sp>
        <p:nvSpPr>
          <p:cNvPr id="154" name="Google Shape;154;p19"/>
          <p:cNvSpPr txBox="1">
            <a:spLocks noGrp="1"/>
          </p:cNvSpPr>
          <p:nvPr>
            <p:ph type="body" idx="4294967295"/>
          </p:nvPr>
        </p:nvSpPr>
        <p:spPr>
          <a:xfrm>
            <a:off x="4715350" y="2070575"/>
            <a:ext cx="2214300" cy="3072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b="1"/>
              <a:t>Unit economics</a:t>
            </a:r>
            <a:endParaRPr sz="1600" b="1"/>
          </a:p>
          <a:p>
            <a:pPr marL="0" lvl="0" indent="0" algn="l" rtl="0">
              <a:spcBef>
                <a:spcPts val="800"/>
              </a:spcBef>
              <a:spcAft>
                <a:spcPts val="800"/>
              </a:spcAft>
              <a:buNone/>
            </a:pPr>
            <a:r>
              <a:rPr lang="en" sz="1500" b="1"/>
              <a:t>Key finding</a:t>
            </a:r>
            <a:r>
              <a:rPr lang="en" sz="1500"/>
              <a:t>: Unit economics improve with tenure (worker value ramps). Blended LTV6 ≈ $840 and LTV12 ≈ $1,381 vs CAC ≈ $792 → payback is stronger by ~12 months than 6 months.</a:t>
            </a:r>
            <a:endParaRPr sz="1500"/>
          </a:p>
        </p:txBody>
      </p:sp>
      <p:sp>
        <p:nvSpPr>
          <p:cNvPr id="155" name="Google Shape;155;p19"/>
          <p:cNvSpPr/>
          <p:nvPr/>
        </p:nvSpPr>
        <p:spPr>
          <a:xfrm>
            <a:off x="6847375" y="1304875"/>
            <a:ext cx="2214300" cy="607800"/>
          </a:xfrm>
          <a:prstGeom prst="chevron">
            <a:avLst>
              <a:gd name="adj" fmla="val 50000"/>
            </a:avLst>
          </a:prstGeom>
          <a:solidFill>
            <a:schemeClr val="dk1"/>
          </a:solidFill>
          <a:ln>
            <a:noFill/>
          </a:ln>
        </p:spPr>
        <p:txBody>
          <a:bodyPr spcFirstLastPara="1" wrap="square" lIns="121875" tIns="121875" rIns="121875" bIns="121875" anchor="ctr" anchorCtr="0">
            <a:noAutofit/>
          </a:bodyPr>
          <a:lstStyle/>
          <a:p>
            <a:pPr marL="0" lvl="0" indent="0" algn="l" rtl="0">
              <a:spcBef>
                <a:spcPts val="0"/>
              </a:spcBef>
              <a:spcAft>
                <a:spcPts val="0"/>
              </a:spcAft>
              <a:buNone/>
            </a:pPr>
            <a:endParaRPr/>
          </a:p>
        </p:txBody>
      </p:sp>
      <p:sp>
        <p:nvSpPr>
          <p:cNvPr id="156" name="Google Shape;156;p19"/>
          <p:cNvSpPr txBox="1">
            <a:spLocks noGrp="1"/>
          </p:cNvSpPr>
          <p:nvPr>
            <p:ph type="body" idx="4294967295"/>
          </p:nvPr>
        </p:nvSpPr>
        <p:spPr>
          <a:xfrm>
            <a:off x="7193358" y="1451576"/>
            <a:ext cx="2257200" cy="3144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a:solidFill>
                  <a:schemeClr val="lt1"/>
                </a:solidFill>
              </a:rPr>
              <a:t>Challenge 4</a:t>
            </a:r>
            <a:endParaRPr>
              <a:solidFill>
                <a:schemeClr val="lt1"/>
              </a:solidFill>
            </a:endParaRPr>
          </a:p>
        </p:txBody>
      </p:sp>
      <p:sp>
        <p:nvSpPr>
          <p:cNvPr id="157" name="Google Shape;157;p19"/>
          <p:cNvSpPr txBox="1">
            <a:spLocks noGrp="1"/>
          </p:cNvSpPr>
          <p:nvPr>
            <p:ph type="body" idx="4294967295"/>
          </p:nvPr>
        </p:nvSpPr>
        <p:spPr>
          <a:xfrm>
            <a:off x="6929700" y="2070575"/>
            <a:ext cx="2214300" cy="3072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b="1"/>
              <a:t>Scaling profitability</a:t>
            </a:r>
            <a:endParaRPr sz="1600" b="1"/>
          </a:p>
          <a:p>
            <a:pPr marL="0" lvl="0" indent="0" algn="l" rtl="0">
              <a:spcBef>
                <a:spcPts val="800"/>
              </a:spcBef>
              <a:spcAft>
                <a:spcPts val="800"/>
              </a:spcAft>
              <a:buNone/>
            </a:pPr>
            <a:r>
              <a:rPr lang="en" sz="1250" b="1"/>
              <a:t>Key finding</a:t>
            </a:r>
            <a:r>
              <a:rPr lang="en" sz="1250"/>
              <a:t>: Revenue growth is currently loss-amplifying: higher revenue aligns with more negative EBITDA, driven largely by worker pay scaling with revenue. The scaling question is whether they can break even by improving take rate/efficiency and retention.</a:t>
            </a:r>
            <a:endParaRPr sz="125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2"/>
          <p:cNvSpPr txBox="1">
            <a:spLocks noGrp="1"/>
          </p:cNvSpPr>
          <p:nvPr>
            <p:ph type="title"/>
          </p:nvPr>
        </p:nvSpPr>
        <p:spPr>
          <a:xfrm>
            <a:off x="400225" y="1074150"/>
            <a:ext cx="8520600" cy="223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6700"/>
              <a:t>THANK YOU! :)</a:t>
            </a:r>
            <a:endParaRPr sz="6700"/>
          </a:p>
        </p:txBody>
      </p:sp>
    </p:spTree>
  </p:cSld>
  <p:clrMapOvr>
    <a:masterClrMapping/>
  </p:clrMapOvr>
</p:sld>
</file>

<file path=ppt/theme/theme1.xml><?xml version="1.0" encoding="utf-8"?>
<a:theme xmlns:a="http://schemas.openxmlformats.org/drawingml/2006/main"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1253</Words>
  <Application>Microsoft Office PowerPoint</Application>
  <PresentationFormat>On-screen Show (16:9)</PresentationFormat>
  <Paragraphs>57</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Roboto</vt:lpstr>
      <vt:lpstr>Arial</vt:lpstr>
      <vt:lpstr>Georgia</vt:lpstr>
      <vt:lpstr>Geometric</vt:lpstr>
      <vt:lpstr>Initech Case Study</vt:lpstr>
      <vt:lpstr>The problem</vt:lpstr>
      <vt:lpstr>PowerPoint Presentation</vt:lpstr>
      <vt:lpstr>PowerPoint Presentation</vt:lpstr>
      <vt:lpstr>PowerPoint Presentation</vt:lpstr>
      <vt:lpstr>PowerPoint Presentation</vt:lpstr>
      <vt:lpstr>Key Findings</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Kris</dc:creator>
  <cp:lastModifiedBy>Kris Soni</cp:lastModifiedBy>
  <cp:revision>2</cp:revision>
  <dcterms:modified xsi:type="dcterms:W3CDTF">2026-02-10T03:57:24Z</dcterms:modified>
</cp:coreProperties>
</file>